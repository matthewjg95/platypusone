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2/handh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417320"/>
            <a:ext cx="3566160" cy="3566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8288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Platypus One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731520" y="2880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— Components Under Consideration (rev B, 2026-08-24)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34290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Handheld multi-sensor instrument on the Arduino UNO Q · Autodesk Arduino Q hardware contest · PlatypusOS (C++20)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9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Gates: hardware recipients Sep 18 · display fallback Sep 30 · carrier PCB freeze Nov 10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5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Compute — Arduino UNO Q (4G)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contest · $59 or contest-provided · 85 × 54 × 20 mm</a:t>
            </a:r>
            <a:endParaRPr lang="en-US" sz="1450" dirty="0"/>
          </a:p>
        </p:txBody>
      </p:sp>
      <p:pic>
        <p:nvPicPr>
          <p:cNvPr id="4" name="Image 0" descr="img2/uno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737360"/>
            <a:ext cx="411480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830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468880" y="17830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Qualcomm QRB2210 running Debian Linux + STM32 MCU side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24414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out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468880" y="244144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MIPI-DSI via ANX7625 → USB-C DP Alt-Mode, muxed with a DSI connector — one output at a time; drives the display decision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30998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468880" y="309981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microSD 32 GB A1 (~$12) — OS + data partition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37581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power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468880" y="375818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PD 5 V / 3 A supply + cable (~$15)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44165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468880" y="441655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contest hardware recipients announced Sep 18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06640" y="4709160"/>
            <a:ext cx="4114800" cy="1234440"/>
          </a:xfrm>
          <a:prstGeom prst="roundRect">
            <a:avLst>
              <a:gd name="adj" fmla="val 5185"/>
            </a:avLst>
          </a:prstGeom>
          <a:solidFill>
            <a:srgbClr val="EEF4F4"/>
          </a:solidFill>
          <a:ln/>
        </p:spPr>
      </p:sp>
      <p:sp>
        <p:nvSpPr>
          <p:cNvPr id="16" name="Text 13"/>
          <p:cNvSpPr/>
          <p:nvPr/>
        </p:nvSpPr>
        <p:spPr>
          <a:xfrm>
            <a:off x="7607808" y="486460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DSI/USB-C mux is the single fact that shaped the display architecture (ADR-0002).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5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— DECIDED: MIPI-DSI Panel (ADR-0002)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path that is product-grade and keeps USB-C free for charging + USB host</a:t>
            </a:r>
            <a:endParaRPr lang="en-US" sz="1450" dirty="0"/>
          </a:p>
        </p:txBody>
      </p:sp>
      <p:pic>
        <p:nvPicPr>
          <p:cNvPr id="4" name="Image 0" descr="img2/dis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00200"/>
            <a:ext cx="3931920" cy="2606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6675120" cy="1143000"/>
          </a:xfrm>
          <a:prstGeom prst="roundRect">
            <a:avLst>
              <a:gd name="adj" fmla="val 5600"/>
            </a:avLst>
          </a:prstGeom>
          <a:solidFill>
            <a:srgbClr val="E7F2EC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" y="1801368"/>
            <a:ext cx="6272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4a — 4.3–5″ MIPI-DSI 800×480 capacitive · $30–45 · SELECTED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1248" y="2148840"/>
            <a:ext cx="62727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Linux DSI on the internal connector. Exact panel TBD — compatible-panel research due (connector P/N + pinout from ABX00162), gate Sep 30.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6675120" cy="960120"/>
          </a:xfrm>
          <a:prstGeom prst="roundRect">
            <a:avLst>
              <a:gd name="adj" fmla="val 6667"/>
            </a:avLst>
          </a:prstGeom>
          <a:solidFill>
            <a:srgbClr val="EEF4F4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3081528"/>
            <a:ext cx="6272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— 4.3″ parallel-RGB + ESP32-S3 bridge · ~$35+bridge · FALLBACK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41248" y="3429000"/>
            <a:ext cx="6272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SUB3-class (ST7262E43 + GT1151). Activated only if DSI panel sourcing fails by Sep 30.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4069080"/>
            <a:ext cx="6675120" cy="960120"/>
          </a:xfrm>
          <a:prstGeom prst="roundRect">
            <a:avLst>
              <a:gd name="adj" fmla="val 6667"/>
            </a:avLst>
          </a:prstGeom>
          <a:solidFill>
            <a:srgbClr val="EEF4F4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4178808"/>
            <a:ext cx="6272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 — 3.2″ ILI9341 SPI resistive · $16 · DESCOPE NET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41248" y="4526280"/>
            <a:ext cx="6272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renderer/sim as currently built. Safety net only.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5166360"/>
            <a:ext cx="6675120" cy="960120"/>
          </a:xfrm>
          <a:prstGeom prst="roundRect">
            <a:avLst>
              <a:gd name="adj" fmla="val 6667"/>
            </a:avLst>
          </a:prstGeom>
          <a:solidFill>
            <a:srgbClr val="EEF4F4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5276088"/>
            <a:ext cx="6272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— USB-C / HDMI portable monitor · $40 · DEV FIXTURE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41248" y="5623560"/>
            <a:ext cx="6272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Zero-driver prototyping path. Never the product — it consumes the only charging port.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635240" y="4434840"/>
            <a:ext cx="3931920" cy="1691640"/>
          </a:xfrm>
          <a:prstGeom prst="roundRect">
            <a:avLst>
              <a:gd name="adj" fmla="val 3784"/>
            </a:avLst>
          </a:prstGeom>
          <a:solidFill>
            <a:srgbClr val="FBF3E7"/>
          </a:solidFill>
          <a:ln/>
        </p:spPr>
      </p:sp>
      <p:sp>
        <p:nvSpPr>
          <p:cNvPr id="18" name="Text 15"/>
          <p:cNvSpPr/>
          <p:nvPr/>
        </p:nvSpPr>
        <p:spPr>
          <a:xfrm>
            <a:off x="7836408" y="45720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sizing (display dominates the power budget), enclosure aperture, and the renderer target all wait on the exact panel spec.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5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— 7a vs 7b (open)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 confirming the UNO Q's camera input paths (UVC vs MIPI-CSI)</a:t>
            </a:r>
            <a:endParaRPr lang="en-US" sz="1450" dirty="0"/>
          </a:p>
        </p:txBody>
      </p:sp>
      <p:pic>
        <p:nvPicPr>
          <p:cNvPr id="4" name="Image 0" descr="img2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828800"/>
            <a:ext cx="301752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7315200" cy="1463040"/>
          </a:xfrm>
          <a:prstGeom prst="roundRect">
            <a:avLst>
              <a:gd name="adj" fmla="val 4375"/>
            </a:avLst>
          </a:prstGeom>
          <a:solidFill>
            <a:srgbClr val="E7F2EC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" y="1892808"/>
            <a:ext cx="6912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— USB UVC OV5640-class autofocus · $25 · ✦ primary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1248" y="2240280"/>
            <a:ext cx="6912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Linux path: plug into V4L2 and go. Autofocus, 25×25×10 mm envelope. Lowest driver risk — the pragmatic choice if UVC bandwidth and quality clear the bar for ShadowScan.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7315200" cy="1463040"/>
          </a:xfrm>
          <a:prstGeom prst="roundRect">
            <a:avLst>
              <a:gd name="adj" fmla="val 4375"/>
            </a:avLst>
          </a:prstGeom>
          <a:solidFill>
            <a:srgbClr val="EEF4F4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3538728"/>
            <a:ext cx="6912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— 13 MP autofocus module · $40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41248" y="3886200"/>
            <a:ext cx="6912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fidelity for ShadowScan captures. Open question: does the UNO Q expose a usable MIPI-CSI input, or is this also UVC? Confirm before choosing — CSI would mean device-tree and driver work.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5120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driver: </a:t>
            </a:r>
            <a:pPr indent="0" marL="0">
              <a:buNone/>
            </a:pPr>
            <a:r>
              <a:rPr lang="en-US" sz="130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ShadowScan image quality vs bring-up time. 7a wins unless 7b's fidelity is demonstrably needed and the input path is confirmed.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5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Ranging &amp; Orientation — Open Pairs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pairs are I²C and carrier-PCB-compatible either way — they don't block the schematic, only final placement</a:t>
            </a:r>
            <a:endParaRPr lang="en-US" sz="1450" dirty="0"/>
          </a:p>
        </p:txBody>
      </p:sp>
      <p:pic>
        <p:nvPicPr>
          <p:cNvPr id="4" name="Image 0" descr="img2/sens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783080"/>
            <a:ext cx="3794760" cy="2103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3474720" cy="2103120"/>
          </a:xfrm>
          <a:prstGeom prst="roundRect">
            <a:avLst>
              <a:gd name="adj" fmla="val 3043"/>
            </a:avLst>
          </a:prstGeom>
          <a:solidFill>
            <a:srgbClr val="E7F2EC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" y="1847088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— VL53L1X · $12 · ✦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1248" y="2194560"/>
            <a:ext cx="30723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Single-zone ToF, 4 m range, 13×18 mm breakout. Proven and cheap — fully covers the distance-measure app.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1737360"/>
            <a:ext cx="3474720" cy="2103120"/>
          </a:xfrm>
          <a:prstGeom prst="roundRect">
            <a:avLst>
              <a:gd name="adj" fmla="val 3043"/>
            </a:avLst>
          </a:prstGeom>
          <a:solidFill>
            <a:srgbClr val="EEF4F4"/>
          </a:solidFill>
          <a:ln/>
        </p:spPr>
      </p:sp>
      <p:sp>
        <p:nvSpPr>
          <p:cNvPr id="9" name="Text 6"/>
          <p:cNvSpPr/>
          <p:nvPr/>
        </p:nvSpPr>
        <p:spPr>
          <a:xfrm>
            <a:off x="4498848" y="1847088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— VL53L8CX · $20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498848" y="2194560"/>
            <a:ext cx="30723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multizone — a coarse depth grid that assists ShadowScan. 6×6×3 mm. More driver work.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4023360"/>
            <a:ext cx="3474720" cy="2103120"/>
          </a:xfrm>
          <a:prstGeom prst="roundRect">
            <a:avLst>
              <a:gd name="adj" fmla="val 3043"/>
            </a:avLst>
          </a:prstGeom>
          <a:solidFill>
            <a:srgbClr val="E7F2EC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4133088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 — BNO055 · $25 · ✦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41248" y="4480560"/>
            <a:ext cx="30723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on-chip: orientation out of the box, fastest path to a working level/angle app. 20×27 mm breakout.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97680" y="4023360"/>
            <a:ext cx="3474720" cy="2103120"/>
          </a:xfrm>
          <a:prstGeom prst="roundRect">
            <a:avLst>
              <a:gd name="adj" fmla="val 3043"/>
            </a:avLst>
          </a:prstGeom>
          <a:solidFill>
            <a:srgbClr val="EEF4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98848" y="4133088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— BMI270 · $8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498848" y="4480560"/>
            <a:ext cx="30723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and smaller (10×10×3), already proven in Project Platypus — but fusion runs on our side.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0" y="4023360"/>
            <a:ext cx="3794760" cy="2103120"/>
          </a:xfrm>
          <a:prstGeom prst="roundRect">
            <a:avLst>
              <a:gd name="adj" fmla="val 3043"/>
            </a:avLst>
          </a:prstGeom>
          <a:solidFill>
            <a:srgbClr val="EEF4F4"/>
          </a:solidFill>
          <a:ln/>
        </p:spPr>
      </p:sp>
      <p:sp>
        <p:nvSpPr>
          <p:cNvPr id="18" name="Text 15"/>
          <p:cNvSpPr/>
          <p:nvPr/>
        </p:nvSpPr>
        <p:spPr>
          <a:xfrm>
            <a:off x="7973568" y="4187952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pending (Matthew).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 in the BOM: primaries favour bring-up speed; alternates favour ShadowScan capability and cost.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5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Rotary Encoder — 5a / 5b / 5c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nav control at left thumb — BOM currently lists EC11 only; alternates added for consideration</a:t>
            </a:r>
            <a:endParaRPr lang="en-US" sz="1450" dirty="0"/>
          </a:p>
        </p:txBody>
      </p:sp>
      <p:pic>
        <p:nvPicPr>
          <p:cNvPr id="4" name="Image 0" descr="img2/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783080"/>
            <a:ext cx="283464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7498080" cy="1371600"/>
          </a:xfrm>
          <a:prstGeom prst="roundRect">
            <a:avLst>
              <a:gd name="adj" fmla="val 4667"/>
            </a:avLst>
          </a:prstGeom>
          <a:solidFill>
            <a:srgbClr val="E7F2EC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" y="1847088"/>
            <a:ext cx="7095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 — EC11 mechanical, detented, w/ push (e.g. Bourns PEC11R) · $3 · ✦ primary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1248" y="2194560"/>
            <a:ext cx="7095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detents give free tactile feedback, integrated push = select, threaded bushing panel-mounts cleanly into the grip. Proven, cheap, zero driver work — just debounce. Contact wear is the only real weakness.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7498080" cy="1371600"/>
          </a:xfrm>
          <a:prstGeom prst="roundRect">
            <a:avLst>
              <a:gd name="adj" fmla="val 4667"/>
            </a:avLst>
          </a:prstGeom>
          <a:solidFill>
            <a:srgbClr val="EEF4F4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3401568"/>
            <a:ext cx="7095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— Magnetic: AS5600 + magnet shaft · ~$8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41248" y="3749040"/>
            <a:ext cx="7095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— smooth continuous rotation, no bounce, no wear, absolute position. I²C, so it drops straight onto the carrier hub. No detents and no push: needs a separate tactile for select, and “clicks” would come from the haptic motor (pairs with item 17).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4846320"/>
            <a:ext cx="7498080" cy="1371600"/>
          </a:xfrm>
          <a:prstGeom prst="roundRect">
            <a:avLst>
              <a:gd name="adj" fmla="val 4667"/>
            </a:avLst>
          </a:prstGeom>
          <a:solidFill>
            <a:srgbClr val="EEF4F4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4956048"/>
            <a:ext cx="7095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5c — Adafruit ANO directional nav encoder (P/N 5001) · $9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41248" y="5303520"/>
            <a:ext cx="7095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wheel + 5-way buttons in one iPod-style part — could replace the encoder AND the 4 tactile function keys (item 6), simplifying the front face. Larger footprint; commits the UI to wheel-centric navigation.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03920" y="4343400"/>
            <a:ext cx="3063240" cy="1783080"/>
          </a:xfrm>
          <a:prstGeom prst="roundRect">
            <a:avLst>
              <a:gd name="adj" fmla="val 3590"/>
            </a:avLst>
          </a:prstGeom>
          <a:solidFill>
            <a:srgbClr val="EEF4F4"/>
          </a:solidFill>
          <a:ln/>
        </p:spPr>
      </p:sp>
      <p:sp>
        <p:nvSpPr>
          <p:cNvPr id="15" name="Text 12"/>
          <p:cNvSpPr/>
          <p:nvPr/>
        </p:nvSpPr>
        <p:spPr>
          <a:xfrm>
            <a:off x="8705088" y="4498848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driver: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 unless the UI wants smooth scrolling (5b + haptics) or wheel-nav consolidation (5c, which also deletes item 6).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5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Input, Aux Sensing &amp; Feedback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commodity parts — no open decisions here</a:t>
            </a:r>
            <a:endParaRPr lang="en-US" sz="1450" dirty="0"/>
          </a:p>
        </p:txBody>
      </p:sp>
      <p:pic>
        <p:nvPicPr>
          <p:cNvPr id="4" name="Image 0" descr="img2/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737360"/>
            <a:ext cx="2926080" cy="2423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830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468880" y="178308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EC11-style rotary w/ push, $3 — primary nav, at left thumb per ID doc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23500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468880" y="235000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6 mm tactile, $2 — trigger + function keys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291693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468880" y="291693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TCS34725, $8 — multi-measure lineage feature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34838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468880" y="348386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high-CRI white LED + driver, $2 — controlled shadow casting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405079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468880" y="405079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 or 1 W speaker + PAM8302, $6 — IAudioOutput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46177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468880" y="461772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disc, $2 — stretch goal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51846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468880" y="518464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 BGT24LTR11 Doppler, $30 — DEFERRED to V2 (machine-health app); envelope reserved, not in Rev A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5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cell waits on the display decision — the panel dominates the budget</a:t>
            </a:r>
            <a:endParaRPr lang="en-US" sz="1450" dirty="0"/>
          </a:p>
        </p:txBody>
      </p:sp>
      <p:pic>
        <p:nvPicPr>
          <p:cNvPr id="4" name="Image 0" descr="img2/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920240"/>
            <a:ext cx="411480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830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✦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468880" y="1783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Li-ion/LiPo 3.7 V ~2500 mAh, protected, $15 — 100×60×8 mm flat pack per packaging direction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25603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Charge/boost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468880" y="25603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board, 5 V / 3 A, $20 — must hold a stable 5 V under Linux load; port exits the grip base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33375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46888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SPDT slide, $1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4114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468880" y="4114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capacity is provisional until the DSI panel's draw is measured — don't order the battery first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5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Enclosure &amp; Interconnect — PCBWay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 PCBWay credit if selected · carrier PCB freeze gate Nov 10</a:t>
            </a:r>
            <a:endParaRPr lang="en-US" sz="1450" dirty="0"/>
          </a:p>
        </p:txBody>
      </p:sp>
      <p:pic>
        <p:nvPicPr>
          <p:cNvPr id="4" name="Image 0" descr="img2/enclos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737360"/>
            <a:ext cx="397764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83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PCB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468880" y="1783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hub + buttons + encoder + power distribution, ~$60 assembled — Fusion Electronics design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46888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CNC aluminium barrel + printed polymer grip (per INDUSTRIAL_DESIGN.md), ~$120–250 — metal barrel alone likely $150–250, quote early; RF window required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468880" y="3611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JST-SH/Qwiic cables, headers, M2/M2.5 standoff kit, $15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4526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468880" y="4526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Hookup wire, heat-shrink, $10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548640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indent="0" marL="0">
              <a:buNone/>
            </a:pPr>
            <a:r>
              <a:rPr lang="en-US" sz="130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alu barrel is the biggest single cost swing in the build — get the PCBWay quote before locking the hybrid approach.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&amp; Pending Decisions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$200–230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pocket with contest hardware + $300 PCBWay credit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8E4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$450–500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self-funded worst case, + tools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24145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Display panel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99339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E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 decided; exact DSI panel selection due — blocks battery, enclosure, renderer. Fallback gate Sep 30.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301752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2414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Camera 7a vs 7b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354787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E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 confirming UNO Q camera input paths (UVC vs CSI).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45720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241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ToF 8a/8b · IMU 9a/9b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51023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E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pending. I²C either way — doesn't block carrier PCB schematic start.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9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Alternates are kept deliberately — no option is deleted without a decision note.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2026-08-25T18:57:18Z</dcterms:created>
  <dcterms:modified xsi:type="dcterms:W3CDTF">2026-08-25T18:57:18Z</dcterms:modified>
</cp:coreProperties>
</file>